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64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41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Plantilla recreada a partir de la referencia. Los textos, marcos, colores, medallones y logotipo estilizado son editables como objetos de PowerPoint. Las dos firmas manuscritas se conservan como recortes de imagen para mantener su apariencia original. Reemplaza nombre, charla, fechas y cargos según corresponda.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247D-13F9-30DE-3DEB-29FF45620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A57A7-A6C8-AFCC-BEB9-691222492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6BEEB-3683-9629-2734-8BEA9AF3F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Plantilla recreada a partir de la referencia. Los textos, marcos, colores, medallones y logotipo estilizado son editables como objetos de PowerPoint. Las dos firmas manuscritas se conservan como recortes de imagen para mantener su apariencia original. Reemplaza nombre, charla, fechas y cargos según corresponda.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37D44-6F34-BCF4-EE0C-DFDD1F2C4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12317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F54B-2CC8-05A9-17DE-C925A1B9B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8EB58-D7EE-898F-94DA-AC4907DB4E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925D8-67E6-B464-531D-3F1D36D79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Plantilla recreada a partir de la referencia. Los textos, marcos, colores, medallones y logotipo estilizado son editables como objetos de PowerPoint. Las dos firmas manuscritas se conservan como recortes de imagen para mantener su apariencia original. Reemplaza nombre, charla, fechas y cargos según corresponda.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ECB63-C17C-3EA7-0431-38CB9012D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17686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tif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Relationship Id="rId9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n 73">
            <a:extLst>
              <a:ext uri="{FF2B5EF4-FFF2-40B4-BE49-F238E27FC236}">
                <a16:creationId xmlns:a16="http://schemas.microsoft.com/office/drawing/2014/main" id="{516549FA-238B-AE95-4F20-B1A756E48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6" name="Imagen 75">
            <a:extLst>
              <a:ext uri="{FF2B5EF4-FFF2-40B4-BE49-F238E27FC236}">
                <a16:creationId xmlns:a16="http://schemas.microsoft.com/office/drawing/2014/main" id="{970CCBEB-0B5C-306F-2E3F-91CC4B25FF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86" t="18204" r="12656" b="15502"/>
          <a:stretch>
            <a:fillRect/>
          </a:stretch>
        </p:blipFill>
        <p:spPr>
          <a:xfrm>
            <a:off x="9692931" y="3017668"/>
            <a:ext cx="1499258" cy="1342063"/>
          </a:xfrm>
          <a:prstGeom prst="rect">
            <a:avLst/>
          </a:prstGeom>
        </p:spPr>
      </p:pic>
      <p:sp>
        <p:nvSpPr>
          <p:cNvPr id="78" name="CuadroTexto 77">
            <a:extLst>
              <a:ext uri="{FF2B5EF4-FFF2-40B4-BE49-F238E27FC236}">
                <a16:creationId xmlns:a16="http://schemas.microsoft.com/office/drawing/2014/main" id="{ECDF477B-CA4E-042D-76F3-033335AAC9C9}"/>
              </a:ext>
            </a:extLst>
          </p:cNvPr>
          <p:cNvSpPr txBox="1"/>
          <p:nvPr/>
        </p:nvSpPr>
        <p:spPr>
          <a:xfrm>
            <a:off x="9434977" y="1751943"/>
            <a:ext cx="1901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bg1"/>
                </a:solidFill>
              </a:rPr>
              <a:t>CERTIFICADO</a:t>
            </a:r>
          </a:p>
        </p:txBody>
      </p:sp>
      <p:sp>
        <p:nvSpPr>
          <p:cNvPr id="80" name="Rectángulo redondeado 5">
            <a:extLst>
              <a:ext uri="{FF2B5EF4-FFF2-40B4-BE49-F238E27FC236}">
                <a16:creationId xmlns:a16="http://schemas.microsoft.com/office/drawing/2014/main" id="{47D3E8AD-6498-8524-5AD4-924A529639CF}"/>
              </a:ext>
            </a:extLst>
          </p:cNvPr>
          <p:cNvSpPr/>
          <p:nvPr/>
        </p:nvSpPr>
        <p:spPr>
          <a:xfrm>
            <a:off x="809464" y="1041722"/>
            <a:ext cx="7905004" cy="4721422"/>
          </a:xfrm>
          <a:prstGeom prst="roundRect">
            <a:avLst>
              <a:gd name="adj" fmla="val 5359"/>
            </a:avLst>
          </a:prstGeom>
          <a:noFill/>
          <a:ln w="76200">
            <a:solidFill>
              <a:srgbClr val="14C5C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CERTIFICAMOS QUE:</a:t>
            </a:r>
          </a:p>
          <a:p>
            <a:pPr algn="ctr"/>
            <a:endParaRPr lang="es-PE" dirty="0"/>
          </a:p>
          <a:p>
            <a:pPr algn="ctr"/>
            <a:r>
              <a:rPr lang="es-PE" sz="2000" b="1" i="1" dirty="0">
                <a:solidFill>
                  <a:srgbClr val="0070C0"/>
                </a:solidFill>
              </a:rPr>
              <a:t>WILBER QUISPE PEREZ</a:t>
            </a:r>
            <a:endParaRPr lang="es-PE" sz="2000" dirty="0"/>
          </a:p>
          <a:p>
            <a:pPr algn="ctr"/>
            <a:endParaRPr lang="es-PE" dirty="0"/>
          </a:p>
          <a:p>
            <a:pPr algn="ctr"/>
            <a:r>
              <a:rPr lang="es-PE" dirty="0"/>
              <a:t>Ha participado en la Charla Ejecutiva correspondiente a:</a:t>
            </a:r>
          </a:p>
          <a:p>
            <a:pPr algn="ctr"/>
            <a:r>
              <a:rPr lang="es-PE" b="1" dirty="0">
                <a:solidFill>
                  <a:srgbClr val="0070C0"/>
                </a:solidFill>
              </a:rPr>
              <a:t>“GESTIÓN DE RIESGO DE MODELOS”</a:t>
            </a:r>
          </a:p>
          <a:p>
            <a:pPr algn="ctr"/>
            <a:endParaRPr lang="es-PE" dirty="0"/>
          </a:p>
          <a:p>
            <a:pPr algn="ctr"/>
            <a:r>
              <a:rPr lang="es-PE" dirty="0"/>
              <a:t>Que se llevó a cabo de manera virtual los días 12 y 13 de mayo de 2026. </a:t>
            </a:r>
          </a:p>
          <a:p>
            <a:pPr algn="ctr"/>
            <a:endParaRPr lang="es-PE" dirty="0"/>
          </a:p>
          <a:p>
            <a:pPr algn="ctr"/>
            <a:endParaRPr lang="es-PE" dirty="0"/>
          </a:p>
          <a:p>
            <a:pPr algn="ctr"/>
            <a:endParaRPr lang="es-PE" dirty="0"/>
          </a:p>
          <a:p>
            <a:pPr algn="ctr"/>
            <a:endParaRPr lang="es-PE" dirty="0"/>
          </a:p>
          <a:p>
            <a:pPr algn="ctr"/>
            <a:endParaRPr lang="es-PE" dirty="0"/>
          </a:p>
        </p:txBody>
      </p: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C7135538-F940-DADE-0E23-5B27DD512C58}"/>
              </a:ext>
            </a:extLst>
          </p:cNvPr>
          <p:cNvCxnSpPr/>
          <p:nvPr/>
        </p:nvCxnSpPr>
        <p:spPr>
          <a:xfrm>
            <a:off x="835708" y="5004425"/>
            <a:ext cx="348342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CuadroTexto 81">
            <a:extLst>
              <a:ext uri="{FF2B5EF4-FFF2-40B4-BE49-F238E27FC236}">
                <a16:creationId xmlns:a16="http://schemas.microsoft.com/office/drawing/2014/main" id="{51ED2158-FD82-A395-068D-B41F5A239175}"/>
              </a:ext>
            </a:extLst>
          </p:cNvPr>
          <p:cNvSpPr txBox="1"/>
          <p:nvPr/>
        </p:nvSpPr>
        <p:spPr>
          <a:xfrm>
            <a:off x="835708" y="5004425"/>
            <a:ext cx="348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Juan Carlos Torres Napa</a:t>
            </a:r>
          </a:p>
          <a:p>
            <a:pPr algn="ctr"/>
            <a:r>
              <a:rPr lang="es-PE" b="1" dirty="0"/>
              <a:t>Chief Data &amp; AI Officer - TCG</a:t>
            </a:r>
          </a:p>
        </p:txBody>
      </p:sp>
      <p:pic>
        <p:nvPicPr>
          <p:cNvPr id="83" name="Imagen 82">
            <a:extLst>
              <a:ext uri="{FF2B5EF4-FFF2-40B4-BE49-F238E27FC236}">
                <a16:creationId xmlns:a16="http://schemas.microsoft.com/office/drawing/2014/main" id="{FC2C38B5-3F46-57D0-01DC-73F067FFA32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biLevel thresh="50000"/>
          </a:blip>
          <a:srcRect b="22665"/>
          <a:stretch/>
        </p:blipFill>
        <p:spPr>
          <a:xfrm>
            <a:off x="5318913" y="4157973"/>
            <a:ext cx="2699977" cy="734064"/>
          </a:xfrm>
          <a:prstGeom prst="rect">
            <a:avLst/>
          </a:prstGeom>
        </p:spPr>
      </p:pic>
      <p:sp>
        <p:nvSpPr>
          <p:cNvPr id="84" name="CuadroTexto 83">
            <a:extLst>
              <a:ext uri="{FF2B5EF4-FFF2-40B4-BE49-F238E27FC236}">
                <a16:creationId xmlns:a16="http://schemas.microsoft.com/office/drawing/2014/main" id="{ED20B644-B901-0FCF-00B8-AD3020038C73}"/>
              </a:ext>
            </a:extLst>
          </p:cNvPr>
          <p:cNvSpPr txBox="1"/>
          <p:nvPr/>
        </p:nvSpPr>
        <p:spPr>
          <a:xfrm>
            <a:off x="5131934" y="5004425"/>
            <a:ext cx="348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Ángela Carpio Zamudio</a:t>
            </a:r>
          </a:p>
          <a:p>
            <a:pPr algn="ctr"/>
            <a:r>
              <a:rPr lang="es-PE" b="1" dirty="0"/>
              <a:t>Data &amp; Analytics Manager - TCG</a:t>
            </a:r>
          </a:p>
        </p:txBody>
      </p: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0B8775A5-9736-6396-3F27-C9A17611369B}"/>
              </a:ext>
            </a:extLst>
          </p:cNvPr>
          <p:cNvCxnSpPr/>
          <p:nvPr/>
        </p:nvCxnSpPr>
        <p:spPr>
          <a:xfrm>
            <a:off x="5037591" y="5004425"/>
            <a:ext cx="348342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7" name="Imagen 86">
            <a:extLst>
              <a:ext uri="{FF2B5EF4-FFF2-40B4-BE49-F238E27FC236}">
                <a16:creationId xmlns:a16="http://schemas.microsoft.com/office/drawing/2014/main" id="{885C87EC-5053-799A-5F4F-98C120A7CB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229" b="89157" l="8726" r="93160">
                        <a14:foregroundMark x1="25472" y1="26506" x2="7547" y2="57831"/>
                        <a14:foregroundMark x1="7547" y1="57831" x2="36085" y2="92169"/>
                        <a14:foregroundMark x1="36085" y1="92169" x2="58962" y2="91566"/>
                        <a14:foregroundMark x1="58962" y1="91566" x2="87264" y2="53012"/>
                        <a14:foregroundMark x1="87264" y1="53012" x2="70991" y2="602"/>
                        <a14:foregroundMark x1="70991" y1="602" x2="38208" y2="7229"/>
                        <a14:foregroundMark x1="38208" y1="7229" x2="24057" y2="25301"/>
                        <a14:foregroundMark x1="60377" y1="18072" x2="54481" y2="43976"/>
                        <a14:foregroundMark x1="59434" y1="61446" x2="67689" y2="32530"/>
                        <a14:foregroundMark x1="39151" y1="68675" x2="60377" y2="64458"/>
                        <a14:foregroundMark x1="60377" y1="64458" x2="65566" y2="53614"/>
                        <a14:foregroundMark x1="18160" y1="75904" x2="13443" y2="62651"/>
                        <a14:foregroundMark x1="8962" y1="65060" x2="26415" y2="83735"/>
                        <a14:foregroundMark x1="86557" y1="43976" x2="93160" y2="403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0929" y="4056911"/>
            <a:ext cx="2391228" cy="9361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82B4A-DB65-8EDB-2A19-032E7FB6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EC6679C-F247-0262-9BEA-1D0D62078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374AA2A-C46C-54FD-4037-2AE40D3A9915}"/>
              </a:ext>
            </a:extLst>
          </p:cNvPr>
          <p:cNvSpPr txBox="1"/>
          <p:nvPr/>
        </p:nvSpPr>
        <p:spPr>
          <a:xfrm>
            <a:off x="1677521" y="1404227"/>
            <a:ext cx="609824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1800" dirty="0"/>
              <a:t>CERTIFICAMOS QUE:</a:t>
            </a:r>
          </a:p>
          <a:p>
            <a:pPr algn="ctr"/>
            <a:endParaRPr lang="es-PE" sz="1800" dirty="0"/>
          </a:p>
          <a:p>
            <a:pPr algn="ctr"/>
            <a:r>
              <a:rPr lang="es-PE" sz="2000" b="1" i="1" dirty="0">
                <a:solidFill>
                  <a:srgbClr val="0070C0"/>
                </a:solidFill>
              </a:rPr>
              <a:t>WILBER QUISPE PEREZ</a:t>
            </a:r>
            <a:endParaRPr lang="es-PE" sz="2000" dirty="0"/>
          </a:p>
          <a:p>
            <a:pPr algn="ctr"/>
            <a:endParaRPr lang="es-PE" sz="1800" dirty="0"/>
          </a:p>
          <a:p>
            <a:pPr algn="ctr"/>
            <a:r>
              <a:rPr lang="es-PE" sz="1800" dirty="0"/>
              <a:t>Ha participado en la Charla Ejecutiva correspondiente a:</a:t>
            </a:r>
          </a:p>
          <a:p>
            <a:pPr algn="ctr"/>
            <a:r>
              <a:rPr lang="es-PE" sz="1800" b="1" dirty="0">
                <a:solidFill>
                  <a:srgbClr val="0070C0"/>
                </a:solidFill>
              </a:rPr>
              <a:t>“GESTIÓN DE RIESGO DE MODELOS”</a:t>
            </a:r>
          </a:p>
          <a:p>
            <a:pPr algn="ctr"/>
            <a:endParaRPr lang="es-PE" sz="1800" dirty="0"/>
          </a:p>
          <a:p>
            <a:pPr algn="ctr"/>
            <a:r>
              <a:rPr lang="es-PE" sz="1800" dirty="0"/>
              <a:t>Que se llevó a cabo de manera virtual los días 12 y 13 de mayo de 2026. </a:t>
            </a:r>
          </a:p>
          <a:p>
            <a:pPr algn="ctr"/>
            <a:endParaRPr lang="es-PE" sz="1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43E45BE-9BE4-C6A2-5A21-4667FB8E0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229" b="89157" l="8726" r="93160">
                        <a14:foregroundMark x1="7876" y1="57256" x2="7547" y2="57831"/>
                        <a14:foregroundMark x1="10975" y1="61955" x2="20453" y2="73359"/>
                        <a14:foregroundMark x1="7547" y1="57831" x2="7729" y2="58050"/>
                        <a14:foregroundMark x1="49725" y1="91809" x2="58962" y2="91566"/>
                        <a14:foregroundMark x1="38739" y1="92099" x2="39991" y2="92066"/>
                        <a14:foregroundMark x1="58962" y1="91566" x2="70837" y2="75389"/>
                        <a14:foregroundMark x1="83890" y1="42145" x2="75655" y2="15623"/>
                        <a14:foregroundMark x1="60377" y1="18072" x2="54481" y2="43976"/>
                        <a14:foregroundMark x1="59434" y1="61446" x2="67689" y2="32530"/>
                        <a14:foregroundMark x1="39151" y1="68675" x2="60377" y2="64458"/>
                        <a14:foregroundMark x1="60377" y1="64458" x2="65566" y2="53614"/>
                        <a14:foregroundMark x1="18160" y1="75904" x2="13443" y2="62651"/>
                        <a14:foregroundMark x1="8962" y1="65060" x2="18406" y2="75165"/>
                        <a14:foregroundMark x1="88788" y1="42754" x2="93160" y2="40361"/>
                        <a14:foregroundMark x1="39623" y1="27711" x2="39623" y2="27711"/>
                        <a14:foregroundMark x1="37028" y1="28916" x2="37028" y2="28916"/>
                        <a14:foregroundMark x1="21462" y1="46386" x2="21462" y2="46386"/>
                        <a14:foregroundMark x1="22406" y1="45783" x2="22406" y2="45783"/>
                        <a14:foregroundMark x1="29953" y1="36145" x2="30660" y2="36145"/>
                        <a14:foregroundMark x1="30660" y1="36145" x2="36321" y2="31325"/>
                        <a14:backgroundMark x1="31368" y1="1807" x2="14623" y2="21687"/>
                        <a14:backgroundMark x1="7547" y1="59036" x2="44340" y2="1807"/>
                        <a14:backgroundMark x1="44340" y1="1807" x2="44340" y2="1807"/>
                        <a14:backgroundMark x1="40566" y1="8434" x2="68160" y2="1205"/>
                        <a14:backgroundMark x1="68160" y1="1205" x2="68160" y2="1205"/>
                        <a14:backgroundMark x1="78302" y1="1205" x2="98113" y2="31928"/>
                        <a14:backgroundMark x1="98113" y1="31928" x2="98113" y2="31928"/>
                        <a14:backgroundMark x1="68868" y1="4217" x2="86321" y2="5422"/>
                        <a14:backgroundMark x1="90094" y1="45783" x2="72877" y2="80120"/>
                        <a14:backgroundMark x1="72877" y1="80120" x2="72877" y2="84940"/>
                        <a14:backgroundMark x1="32547" y1="84940" x2="38915" y2="91566"/>
                        <a14:backgroundMark x1="28066" y1="78916" x2="28066" y2="78916"/>
                        <a14:backgroundMark x1="32075" y1="83133" x2="20755" y2="84337"/>
                        <a14:backgroundMark x1="40566" y1="89759" x2="50236" y2="89759"/>
                        <a14:backgroundMark x1="39151" y1="92169" x2="39151" y2="92169"/>
                        <a14:backgroundMark x1="67217" y1="2410" x2="70047" y2="2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7521" y="4297327"/>
            <a:ext cx="2391228" cy="9361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AC9DCD-4E83-125E-5974-45EE3C02F85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biLevel thresh="5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500" b="74722" l="3223" r="89844">
                        <a14:foregroundMark x1="10059" y1="43889" x2="9570" y2="59722"/>
                        <a14:foregroundMark x1="6836" y1="64722" x2="5469" y2="62778"/>
                        <a14:foregroundMark x1="3320" y1="29444" x2="3320" y2="29444"/>
                        <a14:foregroundMark x1="8984" y1="24167" x2="8984" y2="24167"/>
                        <a14:foregroundMark x1="17871" y1="22778" x2="17871" y2="22778"/>
                        <a14:foregroundMark x1="20117" y1="24167" x2="20117" y2="24167"/>
                        <a14:foregroundMark x1="24609" y1="27778" x2="24609" y2="27778"/>
                        <a14:foregroundMark x1="41309" y1="66389" x2="41309" y2="66389"/>
                        <a14:foregroundMark x1="29590" y1="61111" x2="29590" y2="61111"/>
                        <a14:foregroundMark x1="27734" y1="61111" x2="27734" y2="61111"/>
                        <a14:foregroundMark x1="34766" y1="67778" x2="34766" y2="67778"/>
                        <a14:foregroundMark x1="33691" y1="74722" x2="36816" y2="58333"/>
                      </a14:backgroundRemoval>
                    </a14:imgEffect>
                  </a14:imgLayer>
                </a14:imgProps>
              </a:ext>
            </a:extLst>
          </a:blip>
          <a:srcRect b="22665"/>
          <a:stretch/>
        </p:blipFill>
        <p:spPr>
          <a:xfrm>
            <a:off x="5579301" y="4433768"/>
            <a:ext cx="2699977" cy="73406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9EFA9B8-6D11-2CFA-D0F7-CCA08449ED75}"/>
              </a:ext>
            </a:extLst>
          </p:cNvPr>
          <p:cNvSpPr txBox="1"/>
          <p:nvPr/>
        </p:nvSpPr>
        <p:spPr>
          <a:xfrm>
            <a:off x="835708" y="5327590"/>
            <a:ext cx="348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Juan Carlos Torres Napa</a:t>
            </a:r>
          </a:p>
          <a:p>
            <a:pPr algn="ctr"/>
            <a:r>
              <a:rPr lang="es-PE" b="1" dirty="0"/>
              <a:t>Chief Data &amp; AI Officer - TCG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A336169-F410-E3AA-F18E-74F2FEA0C07A}"/>
              </a:ext>
            </a:extLst>
          </p:cNvPr>
          <p:cNvSpPr txBox="1"/>
          <p:nvPr/>
        </p:nvSpPr>
        <p:spPr>
          <a:xfrm>
            <a:off x="5025254" y="5378388"/>
            <a:ext cx="348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Ángela Carpio Zamudio</a:t>
            </a:r>
          </a:p>
          <a:p>
            <a:pPr algn="ctr"/>
            <a:r>
              <a:rPr lang="es-PE" b="1" dirty="0"/>
              <a:t>Data &amp; Analytics Manager - TCG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33AE6B5-C565-977B-006E-E8733806B6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1167" b="79542" l="16667" r="83125">
                        <a14:foregroundMark x1="78250" y1="67125" x2="78250" y2="67125"/>
                        <a14:foregroundMark x1="83125" y1="70875" x2="83125" y2="70875"/>
                        <a14:foregroundMark x1="78250" y1="73167" x2="78250" y2="73167"/>
                        <a14:foregroundMark x1="66208" y1="69583" x2="66208" y2="69583"/>
                        <a14:foregroundMark x1="56792" y1="69583" x2="56792" y2="69583"/>
                        <a14:foregroundMark x1="58292" y1="64875" x2="58292" y2="64875"/>
                        <a14:foregroundMark x1="61708" y1="65417" x2="61708" y2="65417"/>
                        <a14:foregroundMark x1="50000" y1="69208" x2="50000" y2="69208"/>
                        <a14:foregroundMark x1="33250" y1="65042" x2="33250" y2="65042"/>
                        <a14:foregroundMark x1="20292" y1="65417" x2="20083" y2="66583"/>
                        <a14:foregroundMark x1="20292" y1="69000" x2="20292" y2="69000"/>
                        <a14:foregroundMark x1="16708" y1="64875" x2="16708" y2="64875"/>
                        <a14:foregroundMark x1="49833" y1="21583" x2="49833" y2="21583"/>
                        <a14:foregroundMark x1="50792" y1="21208" x2="50792" y2="21208"/>
                        <a14:foregroundMark x1="26667" y1="78417" x2="26667" y2="78417"/>
                        <a14:foregroundMark x1="27625" y1="79000" x2="55708" y2="77500"/>
                        <a14:foregroundMark x1="55708" y1="77500" x2="63958" y2="78792"/>
                        <a14:foregroundMark x1="73000" y1="79000" x2="66000" y2="79542"/>
                      </a14:backgroundRemoval>
                    </a14:imgEffect>
                  </a14:imgLayer>
                </a14:imgProps>
              </a:ext>
            </a:extLst>
          </a:blip>
          <a:srcRect l="13286" t="18204" r="12656" b="15502"/>
          <a:stretch>
            <a:fillRect/>
          </a:stretch>
        </p:blipFill>
        <p:spPr>
          <a:xfrm>
            <a:off x="9585260" y="3017668"/>
            <a:ext cx="1499258" cy="1342063"/>
          </a:xfrm>
          <a:prstGeom prst="rect">
            <a:avLst/>
          </a:prstGeom>
          <a:effectLst/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F48E0153-DB48-253E-BD36-6B0C8BD6CCC3}"/>
              </a:ext>
            </a:extLst>
          </p:cNvPr>
          <p:cNvSpPr txBox="1"/>
          <p:nvPr/>
        </p:nvSpPr>
        <p:spPr>
          <a:xfrm>
            <a:off x="9434977" y="1751943"/>
            <a:ext cx="1901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bg1"/>
                </a:solidFill>
              </a:rPr>
              <a:t>CERTIFICADO</a:t>
            </a:r>
          </a:p>
        </p:txBody>
      </p:sp>
    </p:spTree>
    <p:extLst>
      <p:ext uri="{BB962C8B-B14F-4D97-AF65-F5344CB8AC3E}">
        <p14:creationId xmlns:p14="http://schemas.microsoft.com/office/powerpoint/2010/main" val="91433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29F13-CA23-10E8-A6CE-00ED4733E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7B5A17F4-D362-129C-2282-BE427D822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7C82779-2D8F-10B3-F0E1-EB16FA13342B}"/>
              </a:ext>
            </a:extLst>
          </p:cNvPr>
          <p:cNvSpPr txBox="1"/>
          <p:nvPr/>
        </p:nvSpPr>
        <p:spPr>
          <a:xfrm>
            <a:off x="9434977" y="1751943"/>
            <a:ext cx="1901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bg1"/>
                </a:solidFill>
              </a:rPr>
              <a:t>CERTIFICADO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743C22-E3DC-8B6E-4A3D-4F7E9E6D4F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229" b="89157" l="8726" r="93160">
                        <a14:foregroundMark x1="7876" y1="57256" x2="7547" y2="57831"/>
                        <a14:foregroundMark x1="10975" y1="61955" x2="20453" y2="73359"/>
                        <a14:foregroundMark x1="7547" y1="57831" x2="7729" y2="58050"/>
                        <a14:foregroundMark x1="49725" y1="91809" x2="58962" y2="91566"/>
                        <a14:foregroundMark x1="38739" y1="92099" x2="39991" y2="92066"/>
                        <a14:foregroundMark x1="58962" y1="91566" x2="70837" y2="75389"/>
                        <a14:foregroundMark x1="83890" y1="42145" x2="75655" y2="15623"/>
                        <a14:foregroundMark x1="60377" y1="18072" x2="54481" y2="43976"/>
                        <a14:foregroundMark x1="59434" y1="61446" x2="67689" y2="32530"/>
                        <a14:foregroundMark x1="39151" y1="68675" x2="60377" y2="64458"/>
                        <a14:foregroundMark x1="60377" y1="64458" x2="65566" y2="53614"/>
                        <a14:foregroundMark x1="18160" y1="75904" x2="13443" y2="62651"/>
                        <a14:foregroundMark x1="8962" y1="65060" x2="18406" y2="75165"/>
                        <a14:foregroundMark x1="88788" y1="42754" x2="93160" y2="40361"/>
                        <a14:foregroundMark x1="39623" y1="27711" x2="39623" y2="27711"/>
                        <a14:foregroundMark x1="37028" y1="28916" x2="37028" y2="28916"/>
                        <a14:foregroundMark x1="21462" y1="46386" x2="21462" y2="46386"/>
                        <a14:foregroundMark x1="22406" y1="45783" x2="22406" y2="45783"/>
                        <a14:foregroundMark x1="29953" y1="36145" x2="30660" y2="36145"/>
                        <a14:foregroundMark x1="30660" y1="36145" x2="36321" y2="31325"/>
                        <a14:backgroundMark x1="31368" y1="1807" x2="14623" y2="21687"/>
                        <a14:backgroundMark x1="7547" y1="59036" x2="44340" y2="1807"/>
                        <a14:backgroundMark x1="44340" y1="1807" x2="44340" y2="1807"/>
                        <a14:backgroundMark x1="40566" y1="8434" x2="68160" y2="1205"/>
                        <a14:backgroundMark x1="68160" y1="1205" x2="68160" y2="1205"/>
                        <a14:backgroundMark x1="78302" y1="1205" x2="98113" y2="31928"/>
                        <a14:backgroundMark x1="98113" y1="31928" x2="98113" y2="31928"/>
                        <a14:backgroundMark x1="68868" y1="4217" x2="86321" y2="5422"/>
                        <a14:backgroundMark x1="90094" y1="45783" x2="72877" y2="80120"/>
                        <a14:backgroundMark x1="72877" y1="80120" x2="72877" y2="84940"/>
                        <a14:backgroundMark x1="32547" y1="84940" x2="38915" y2="91566"/>
                        <a14:backgroundMark x1="28066" y1="78916" x2="28066" y2="78916"/>
                        <a14:backgroundMark x1="32075" y1="83133" x2="20755" y2="84337"/>
                        <a14:backgroundMark x1="40566" y1="89759" x2="50236" y2="89759"/>
                        <a14:backgroundMark x1="39151" y1="92169" x2="39151" y2="92169"/>
                        <a14:backgroundMark x1="67217" y1="2410" x2="70047" y2="2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30787" y="4517585"/>
            <a:ext cx="2391228" cy="9361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E0A70EE-3C3D-46B5-830B-A76905D707C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biLevel thresh="5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500" b="74722" l="3223" r="89844">
                        <a14:foregroundMark x1="10059" y1="43889" x2="9570" y2="59722"/>
                        <a14:foregroundMark x1="6836" y1="64722" x2="5469" y2="62778"/>
                        <a14:foregroundMark x1="3320" y1="29444" x2="3320" y2="29444"/>
                        <a14:foregroundMark x1="8984" y1="24167" x2="8984" y2="24167"/>
                        <a14:foregroundMark x1="17871" y1="22778" x2="17871" y2="22778"/>
                        <a14:foregroundMark x1="20117" y1="24167" x2="20117" y2="24167"/>
                        <a14:foregroundMark x1="24609" y1="27778" x2="24609" y2="27778"/>
                        <a14:foregroundMark x1="41309" y1="66389" x2="41309" y2="66389"/>
                        <a14:foregroundMark x1="29590" y1="61111" x2="29590" y2="61111"/>
                        <a14:foregroundMark x1="27734" y1="61111" x2="27734" y2="61111"/>
                        <a14:foregroundMark x1="34766" y1="67778" x2="34766" y2="67778"/>
                        <a14:foregroundMark x1="33691" y1="74722" x2="36816" y2="58333"/>
                      </a14:backgroundRemoval>
                    </a14:imgEffect>
                  </a14:imgLayer>
                </a14:imgProps>
              </a:ext>
            </a:extLst>
          </a:blip>
          <a:srcRect b="22665"/>
          <a:stretch/>
        </p:blipFill>
        <p:spPr>
          <a:xfrm>
            <a:off x="6641175" y="4644324"/>
            <a:ext cx="2699977" cy="73406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2260E09-D596-5F8F-18DF-EA99A0EB0D1D}"/>
              </a:ext>
            </a:extLst>
          </p:cNvPr>
          <p:cNvSpPr txBox="1"/>
          <p:nvPr/>
        </p:nvSpPr>
        <p:spPr>
          <a:xfrm>
            <a:off x="1915955" y="5566584"/>
            <a:ext cx="348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Juan Carlos Torres Napa</a:t>
            </a:r>
          </a:p>
          <a:p>
            <a:pPr algn="ctr"/>
            <a:r>
              <a:rPr lang="es-PE" b="1" dirty="0"/>
              <a:t>Chief Data &amp; AI Officer - TCG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0146E8-021F-B8EE-7B99-C2BF7FC9077A}"/>
              </a:ext>
            </a:extLst>
          </p:cNvPr>
          <p:cNvSpPr txBox="1"/>
          <p:nvPr/>
        </p:nvSpPr>
        <p:spPr>
          <a:xfrm>
            <a:off x="6105501" y="5566584"/>
            <a:ext cx="348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Ángela Carpio Zamudio</a:t>
            </a:r>
          </a:p>
          <a:p>
            <a:pPr algn="ctr"/>
            <a:r>
              <a:rPr lang="es-PE" b="1" dirty="0"/>
              <a:t>Data &amp; Analytics Manager - TCG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EB79E20-E533-C409-FD20-5DFB7668ADDF}"/>
              </a:ext>
            </a:extLst>
          </p:cNvPr>
          <p:cNvSpPr txBox="1"/>
          <p:nvPr/>
        </p:nvSpPr>
        <p:spPr>
          <a:xfrm>
            <a:off x="3039782" y="1556627"/>
            <a:ext cx="609824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1800" dirty="0"/>
              <a:t>CERTIFICAMOS QUE:</a:t>
            </a:r>
          </a:p>
          <a:p>
            <a:pPr algn="ctr"/>
            <a:endParaRPr lang="es-PE" sz="1800" dirty="0"/>
          </a:p>
          <a:p>
            <a:pPr algn="ctr"/>
            <a:r>
              <a:rPr lang="es-PE" sz="2000" b="1" i="1" dirty="0">
                <a:solidFill>
                  <a:srgbClr val="0070C0"/>
                </a:solidFill>
              </a:rPr>
              <a:t>WILBER QUISPE PEREZ</a:t>
            </a:r>
            <a:endParaRPr lang="es-PE" sz="2000" dirty="0"/>
          </a:p>
          <a:p>
            <a:pPr algn="ctr"/>
            <a:endParaRPr lang="es-PE" sz="1800" dirty="0"/>
          </a:p>
          <a:p>
            <a:pPr algn="ctr"/>
            <a:r>
              <a:rPr lang="es-PE" sz="1800" dirty="0"/>
              <a:t>Ha participado en la Charla Ejecutiva correspondiente a:</a:t>
            </a:r>
          </a:p>
          <a:p>
            <a:pPr algn="ctr"/>
            <a:r>
              <a:rPr lang="es-PE" sz="1800" b="1" dirty="0">
                <a:solidFill>
                  <a:srgbClr val="0070C0"/>
                </a:solidFill>
              </a:rPr>
              <a:t>“GESTIÓN DE RIESGO DE MODELOS”</a:t>
            </a:r>
          </a:p>
          <a:p>
            <a:pPr algn="ctr"/>
            <a:endParaRPr lang="es-PE" sz="1800" dirty="0"/>
          </a:p>
          <a:p>
            <a:pPr algn="ctr"/>
            <a:r>
              <a:rPr lang="es-PE" sz="1800" dirty="0"/>
              <a:t>Que se llevó a cabo de manera virtual los días 12 y 13 de mayo de 2026. </a:t>
            </a:r>
          </a:p>
          <a:p>
            <a:pPr algn="ctr"/>
            <a:endParaRPr lang="es-PE" sz="18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0510A51-2F66-6987-B18F-26FF79680285}"/>
              </a:ext>
            </a:extLst>
          </p:cNvPr>
          <p:cNvSpPr txBox="1"/>
          <p:nvPr/>
        </p:nvSpPr>
        <p:spPr>
          <a:xfrm>
            <a:off x="9964559" y="5566584"/>
            <a:ext cx="1901213" cy="369332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575113"/>
              </a:avLst>
            </a:prstTxWarp>
            <a:spAutoFit/>
          </a:bodyPr>
          <a:lstStyle/>
          <a:p>
            <a:pPr algn="ctr"/>
            <a:r>
              <a:rPr lang="es-PE" b="1" dirty="0">
                <a:solidFill>
                  <a:schemeClr val="bg1"/>
                </a:solidFill>
              </a:rPr>
              <a:t>CERTIFICADO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2E26425A-3E98-9F4C-B6F7-EB5AD3FFD3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1167" b="79542" l="16667" r="83125">
                        <a14:foregroundMark x1="78250" y1="67125" x2="78250" y2="67125"/>
                        <a14:foregroundMark x1="83125" y1="70875" x2="83125" y2="70875"/>
                        <a14:foregroundMark x1="78250" y1="73167" x2="78250" y2="73167"/>
                        <a14:foregroundMark x1="66208" y1="69583" x2="66208" y2="69583"/>
                        <a14:foregroundMark x1="56792" y1="69583" x2="56792" y2="69583"/>
                        <a14:foregroundMark x1="58292" y1="64875" x2="58292" y2="64875"/>
                        <a14:foregroundMark x1="61708" y1="65417" x2="61708" y2="65417"/>
                        <a14:foregroundMark x1="50000" y1="69208" x2="50000" y2="69208"/>
                        <a14:foregroundMark x1="33250" y1="65042" x2="33250" y2="65042"/>
                        <a14:foregroundMark x1="20292" y1="65417" x2="20083" y2="66583"/>
                        <a14:foregroundMark x1="20292" y1="69000" x2="20292" y2="69000"/>
                        <a14:foregroundMark x1="16708" y1="64875" x2="16708" y2="64875"/>
                        <a14:foregroundMark x1="49833" y1="21583" x2="49833" y2="21583"/>
                        <a14:foregroundMark x1="50792" y1="21208" x2="50792" y2="21208"/>
                        <a14:foregroundMark x1="26667" y1="78417" x2="26667" y2="78417"/>
                        <a14:foregroundMark x1="27625" y1="79000" x2="55708" y2="77500"/>
                        <a14:foregroundMark x1="55708" y1="77500" x2="63958" y2="78792"/>
                        <a14:foregroundMark x1="73000" y1="79000" x2="66000" y2="79542"/>
                      </a14:backgroundRemoval>
                    </a14:imgEffect>
                  </a14:imgLayer>
                </a14:imgProps>
              </a:ext>
            </a:extLst>
          </a:blip>
          <a:srcRect l="13286" t="18204" r="12656" b="15502"/>
          <a:stretch>
            <a:fillRect/>
          </a:stretch>
        </p:blipFill>
        <p:spPr>
          <a:xfrm>
            <a:off x="9795426" y="1913356"/>
            <a:ext cx="1886147" cy="168838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94679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343</Words>
  <Application>Microsoft Office PowerPoint</Application>
  <PresentationFormat>Panorámica</PresentationFormat>
  <Paragraphs>46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NECIOSUP SAAVEDRA, Leslie Jazmin</cp:lastModifiedBy>
  <cp:revision>2</cp:revision>
  <dcterms:created xsi:type="dcterms:W3CDTF">2013-01-27T09:14:16Z</dcterms:created>
  <dcterms:modified xsi:type="dcterms:W3CDTF">2026-10-21T16:17:54Z</dcterms:modified>
  <cp:category/>
</cp:coreProperties>
</file>